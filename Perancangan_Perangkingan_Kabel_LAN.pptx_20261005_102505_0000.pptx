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  <p:embeddedFont>
      <p:font typeface="Calibri (MS) Italics" charset="1" panose="020F05020202040A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3657600"/>
            <a:ext cx="219456" cy="2743200"/>
            <a:chOff x="0" y="0"/>
            <a:chExt cx="292608" cy="36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3657600"/>
            </a:xfrm>
            <a:custGeom>
              <a:avLst/>
              <a:gdLst/>
              <a:ahLst/>
              <a:cxnLst/>
              <a:rect r="r" b="b" t="t" l="l"/>
              <a:pathLst>
                <a:path h="36576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7360" y="3474720"/>
            <a:ext cx="15361920" cy="2011680"/>
            <a:chOff x="0" y="0"/>
            <a:chExt cx="20482560" cy="2682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82561" cy="2682240"/>
            </a:xfrm>
            <a:custGeom>
              <a:avLst/>
              <a:gdLst/>
              <a:ahLst/>
              <a:cxnLst/>
              <a:rect r="r" b="b" t="t" l="l"/>
              <a:pathLst>
                <a:path h="26822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42875"/>
              <a:ext cx="20482560" cy="282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Perancangan dan Perangkingan Kabel LAN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7360" y="5577840"/>
            <a:ext cx="15361920" cy="1097280"/>
            <a:chOff x="0" y="0"/>
            <a:chExt cx="2048256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048256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BFD7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Panduan merancang jaringan kabel dan membandingkan kategori kabel UTP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2284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645920"/>
            <a:chOff x="0" y="0"/>
            <a:chExt cx="219456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194560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Gambaran Umum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1703" y="2547623"/>
            <a:ext cx="5237483" cy="5877563"/>
            <a:chOff x="0" y="0"/>
            <a:chExt cx="6983311" cy="78367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83222" cy="7836662"/>
            </a:xfrm>
            <a:custGeom>
              <a:avLst/>
              <a:gdLst/>
              <a:ahLst/>
              <a:cxnLst/>
              <a:rect r="r" b="b" t="t" l="l"/>
              <a:pathLst>
                <a:path h="7836662" w="6983222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6738239" y="0"/>
                  </a:lnTo>
                  <a:cubicBezTo>
                    <a:pt x="6873621" y="0"/>
                    <a:pt x="6983222" y="109728"/>
                    <a:pt x="6983222" y="244983"/>
                  </a:cubicBezTo>
                  <a:lnTo>
                    <a:pt x="6983222" y="7591679"/>
                  </a:lnTo>
                  <a:cubicBezTo>
                    <a:pt x="6983222" y="7727061"/>
                    <a:pt x="6873494" y="7836662"/>
                    <a:pt x="6738239" y="7836662"/>
                  </a:cubicBezTo>
                  <a:lnTo>
                    <a:pt x="244983" y="7836662"/>
                  </a:lnTo>
                  <a:cubicBezTo>
                    <a:pt x="109728" y="7836789"/>
                    <a:pt x="0" y="7727061"/>
                    <a:pt x="0" y="7591679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3017520"/>
            <a:ext cx="1097280" cy="128016"/>
            <a:chOff x="0" y="0"/>
            <a:chExt cx="1463040" cy="170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" cy="170688"/>
            </a:xfrm>
            <a:custGeom>
              <a:avLst/>
              <a:gdLst/>
              <a:ahLst/>
              <a:cxnLst/>
              <a:rect r="r" b="b" t="t" l="l"/>
              <a:pathLst>
                <a:path h="170688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3383280"/>
            <a:ext cx="4389120" cy="914400"/>
            <a:chOff x="0" y="0"/>
            <a:chExt cx="585216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21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585216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Perancangan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71600" y="4413885"/>
            <a:ext cx="4389120" cy="354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Menentukan kebutuhan, topologi, jalur, jarak, dan titik akses sebelum kabel dipasang.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119" y="2547623"/>
            <a:ext cx="5237483" cy="5877563"/>
            <a:chOff x="0" y="0"/>
            <a:chExt cx="6983311" cy="78367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3222" cy="7836662"/>
            </a:xfrm>
            <a:custGeom>
              <a:avLst/>
              <a:gdLst/>
              <a:ahLst/>
              <a:cxnLst/>
              <a:rect r="r" b="b" t="t" l="l"/>
              <a:pathLst>
                <a:path h="7836662" w="6983222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6738239" y="0"/>
                  </a:lnTo>
                  <a:cubicBezTo>
                    <a:pt x="6873621" y="0"/>
                    <a:pt x="6983222" y="109728"/>
                    <a:pt x="6983222" y="244983"/>
                  </a:cubicBezTo>
                  <a:lnTo>
                    <a:pt x="6983222" y="7591679"/>
                  </a:lnTo>
                  <a:cubicBezTo>
                    <a:pt x="6983222" y="7727061"/>
                    <a:pt x="6873494" y="7836662"/>
                    <a:pt x="6738239" y="7836662"/>
                  </a:cubicBezTo>
                  <a:lnTo>
                    <a:pt x="244983" y="7836662"/>
                  </a:lnTo>
                  <a:cubicBezTo>
                    <a:pt x="109728" y="7836789"/>
                    <a:pt x="0" y="7727061"/>
                    <a:pt x="0" y="7591679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986016" y="3017520"/>
            <a:ext cx="1097280" cy="128016"/>
            <a:chOff x="0" y="0"/>
            <a:chExt cx="1463040" cy="17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" cy="170688"/>
            </a:xfrm>
            <a:custGeom>
              <a:avLst/>
              <a:gdLst/>
              <a:ahLst/>
              <a:cxnLst/>
              <a:rect r="r" b="b" t="t" l="l"/>
              <a:pathLst>
                <a:path h="170688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986016" y="3383280"/>
            <a:ext cx="4389120" cy="914400"/>
            <a:chOff x="0" y="0"/>
            <a:chExt cx="585216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585216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Perangkingan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986016" y="4413885"/>
            <a:ext cx="4389120" cy="354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Membandingkan kategori kabel (Cat5e–Cat8) berdasarkan kecepatan, frekuensi, jarak, dan biaya.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30535" y="2547623"/>
            <a:ext cx="5237483" cy="5877563"/>
            <a:chOff x="0" y="0"/>
            <a:chExt cx="6983311" cy="78367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83222" cy="7836662"/>
            </a:xfrm>
            <a:custGeom>
              <a:avLst/>
              <a:gdLst/>
              <a:ahLst/>
              <a:cxnLst/>
              <a:rect r="r" b="b" t="t" l="l"/>
              <a:pathLst>
                <a:path h="7836662" w="6983222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6738239" y="0"/>
                  </a:lnTo>
                  <a:cubicBezTo>
                    <a:pt x="6873621" y="0"/>
                    <a:pt x="6983222" y="109728"/>
                    <a:pt x="6983222" y="244983"/>
                  </a:cubicBezTo>
                  <a:lnTo>
                    <a:pt x="6983222" y="7591679"/>
                  </a:lnTo>
                  <a:cubicBezTo>
                    <a:pt x="6983222" y="7727061"/>
                    <a:pt x="6873494" y="7836662"/>
                    <a:pt x="6738239" y="7836662"/>
                  </a:cubicBezTo>
                  <a:lnTo>
                    <a:pt x="244983" y="7836662"/>
                  </a:lnTo>
                  <a:cubicBezTo>
                    <a:pt x="109728" y="7836789"/>
                    <a:pt x="0" y="7727061"/>
                    <a:pt x="0" y="7591679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600432" y="3017520"/>
            <a:ext cx="1097280" cy="128016"/>
            <a:chOff x="0" y="0"/>
            <a:chExt cx="1463040" cy="1706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" cy="170688"/>
            </a:xfrm>
            <a:custGeom>
              <a:avLst/>
              <a:gdLst/>
              <a:ahLst/>
              <a:cxnLst/>
              <a:rect r="r" b="b" t="t" l="l"/>
              <a:pathLst>
                <a:path h="170688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600432" y="3383280"/>
            <a:ext cx="4389120" cy="914400"/>
            <a:chOff x="0" y="0"/>
            <a:chExt cx="585216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521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585216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Tujuan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600432" y="4413885"/>
            <a:ext cx="4389120" cy="354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Jaringan stabil, mudah dirawat, siap dikembangkan, dan sesuai anggaran.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2284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645920"/>
            <a:chOff x="0" y="0"/>
            <a:chExt cx="219456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194560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Tahapan Perancangan Kabel LAN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2194560"/>
            <a:ext cx="1005840" cy="1005840"/>
            <a:chOff x="0" y="0"/>
            <a:chExt cx="134112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7280" y="2194560"/>
            <a:ext cx="1005840" cy="1005840"/>
            <a:chOff x="0" y="0"/>
            <a:chExt cx="134112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60320" y="2103120"/>
            <a:ext cx="5303520" cy="1188720"/>
            <a:chOff x="0" y="0"/>
            <a:chExt cx="707136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70713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Analisis kebutuhan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863840" y="2103120"/>
            <a:ext cx="9509760" cy="1188720"/>
            <a:chOff x="0" y="0"/>
            <a:chExt cx="12679680" cy="1584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79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267968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Jumlah pengguna, aplikasi, bandwidth, dan rencana pertumbuhan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3730752"/>
            <a:ext cx="1005840" cy="1005840"/>
            <a:chOff x="0" y="0"/>
            <a:chExt cx="134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3730752"/>
            <a:ext cx="1005840" cy="1005840"/>
            <a:chOff x="0" y="0"/>
            <a:chExt cx="134112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560320" y="3639312"/>
            <a:ext cx="5303520" cy="1188720"/>
            <a:chOff x="0" y="0"/>
            <a:chExt cx="7071360" cy="1584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70713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Survei lokasi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863840" y="3639312"/>
            <a:ext cx="9509760" cy="1188720"/>
            <a:chOff x="0" y="0"/>
            <a:chExt cx="12679680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79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267968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Denah gedung, jalur kabel, ruang rack, sumber listrik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5266944"/>
            <a:ext cx="1005840" cy="1005840"/>
            <a:chOff x="0" y="0"/>
            <a:chExt cx="1341120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97280" y="5266944"/>
            <a:ext cx="1005840" cy="1005840"/>
            <a:chOff x="0" y="0"/>
            <a:chExt cx="134112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560320" y="5175504"/>
            <a:ext cx="5303520" cy="1188720"/>
            <a:chOff x="0" y="0"/>
            <a:chExt cx="7071360" cy="158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70713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Desain topologi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863840" y="5175504"/>
            <a:ext cx="9509760" cy="1188720"/>
            <a:chOff x="0" y="0"/>
            <a:chExt cx="1267968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679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267968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Star dengan switch utama dan switch distribusi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7280" y="6803136"/>
            <a:ext cx="1005840" cy="1005840"/>
            <a:chOff x="0" y="0"/>
            <a:chExt cx="1341120" cy="1341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97280" y="6803136"/>
            <a:ext cx="1005840" cy="1005840"/>
            <a:chOff x="0" y="0"/>
            <a:chExt cx="134112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560320" y="6711696"/>
            <a:ext cx="5303520" cy="1188720"/>
            <a:chOff x="0" y="0"/>
            <a:chExt cx="7071360" cy="15849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70713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Pilih kabel &amp; perangkat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863840" y="6711696"/>
            <a:ext cx="9509760" cy="1188720"/>
            <a:chOff x="0" y="0"/>
            <a:chExt cx="12679680" cy="1584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679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1267968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Kategori kabel, konektor, patch panel, switch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97280" y="8339328"/>
            <a:ext cx="1005840" cy="1005840"/>
            <a:chOff x="0" y="0"/>
            <a:chExt cx="1341120" cy="1341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97280" y="8339328"/>
            <a:ext cx="1005840" cy="1005840"/>
            <a:chOff x="0" y="0"/>
            <a:chExt cx="134112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560320" y="8247888"/>
            <a:ext cx="5303520" cy="1188720"/>
            <a:chOff x="0" y="0"/>
            <a:chExt cx="70713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713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70713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Instalasi &amp; pengujian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863840" y="8247888"/>
            <a:ext cx="9509760" cy="1188720"/>
            <a:chOff x="0" y="0"/>
            <a:chExt cx="12679680" cy="158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679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1267968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Pemasangan rapi, pelabelan, uji dengan LAN tester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2284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645920"/>
            <a:chOff x="0" y="0"/>
            <a:chExt cx="219456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194560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Aturan Penting dalam Desain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1703" y="2364743"/>
            <a:ext cx="8072123" cy="2860043"/>
            <a:chOff x="0" y="0"/>
            <a:chExt cx="10762831" cy="38133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27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76274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743" y="0"/>
                  </a:lnTo>
                  <a:cubicBezTo>
                    <a:pt x="10652633" y="0"/>
                    <a:pt x="10762742" y="110109"/>
                    <a:pt x="10762742" y="245999"/>
                  </a:cubicBezTo>
                  <a:lnTo>
                    <a:pt x="10762742" y="3567303"/>
                  </a:lnTo>
                  <a:cubicBezTo>
                    <a:pt x="10762742" y="3703193"/>
                    <a:pt x="10652633" y="3813302"/>
                    <a:pt x="1051674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2651760"/>
            <a:ext cx="7132320" cy="1005840"/>
            <a:chOff x="0" y="0"/>
            <a:chExt cx="950976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097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166" r="0" b="-8816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950976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E9A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 m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1600" y="3682365"/>
            <a:ext cx="713232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Panjang maksimum satu segmen kabel UTP (permanent link + patch cord)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14183" y="2364743"/>
            <a:ext cx="8072123" cy="2860043"/>
            <a:chOff x="0" y="0"/>
            <a:chExt cx="10762831" cy="38133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627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76274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743" y="0"/>
                  </a:lnTo>
                  <a:cubicBezTo>
                    <a:pt x="10652633" y="0"/>
                    <a:pt x="10762742" y="110109"/>
                    <a:pt x="10762742" y="245999"/>
                  </a:cubicBezTo>
                  <a:lnTo>
                    <a:pt x="10762742" y="3567303"/>
                  </a:lnTo>
                  <a:cubicBezTo>
                    <a:pt x="10762742" y="3703193"/>
                    <a:pt x="10652633" y="3813302"/>
                    <a:pt x="1051674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84080" y="2651760"/>
            <a:ext cx="7132320" cy="1005840"/>
            <a:chOff x="0" y="0"/>
            <a:chExt cx="950976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166" r="0" b="-881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950976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E9A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T568B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84080" y="3682365"/>
            <a:ext cx="713232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 urutan warna kabel yang umum dipakai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1703" y="5656583"/>
            <a:ext cx="8072123" cy="2860043"/>
            <a:chOff x="0" y="0"/>
            <a:chExt cx="10762831" cy="3813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627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76274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743" y="0"/>
                  </a:lnTo>
                  <a:cubicBezTo>
                    <a:pt x="10652633" y="0"/>
                    <a:pt x="10762742" y="110109"/>
                    <a:pt x="10762742" y="245999"/>
                  </a:cubicBezTo>
                  <a:lnTo>
                    <a:pt x="10762742" y="3567303"/>
                  </a:lnTo>
                  <a:cubicBezTo>
                    <a:pt x="10762742" y="3703193"/>
                    <a:pt x="10652633" y="3813302"/>
                    <a:pt x="1051674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5943600"/>
            <a:ext cx="7132320" cy="1005840"/>
            <a:chOff x="0" y="0"/>
            <a:chExt cx="950976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166" r="0" b="-8816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950976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E9A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Jauhi EMI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71600" y="6974205"/>
            <a:ext cx="713232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Pisahkan dari kabel listrik dan sumber interferensi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14183" y="5656583"/>
            <a:ext cx="8072123" cy="2860043"/>
            <a:chOff x="0" y="0"/>
            <a:chExt cx="10762831" cy="38133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27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76274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743" y="0"/>
                  </a:lnTo>
                  <a:cubicBezTo>
                    <a:pt x="10652633" y="0"/>
                    <a:pt x="10762742" y="110109"/>
                    <a:pt x="10762742" y="245999"/>
                  </a:cubicBezTo>
                  <a:lnTo>
                    <a:pt x="10762742" y="3567303"/>
                  </a:lnTo>
                  <a:cubicBezTo>
                    <a:pt x="10762742" y="3703193"/>
                    <a:pt x="10652633" y="3813302"/>
                    <a:pt x="1051674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784080" y="5943600"/>
            <a:ext cx="7132320" cy="1005840"/>
            <a:chOff x="0" y="0"/>
            <a:chExt cx="9509760" cy="1341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097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166" r="0" b="-8816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950976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E9A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Label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84080" y="6974205"/>
            <a:ext cx="713232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Beri label di kedua ujung kabel dan patch panel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2284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645920"/>
            <a:chOff x="0" y="0"/>
            <a:chExt cx="219456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194560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Perangkingan Kategori Kabel LAN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" y="2194560"/>
          <a:ext cx="16383000" cy="5943600"/>
        </p:xfrm>
        <a:graphic>
          <a:graphicData uri="http://schemas.openxmlformats.org/drawingml/2006/table">
            <a:tbl>
              <a:tblPr/>
              <a:tblGrid>
                <a:gridCol w="2015605"/>
                <a:gridCol w="2194329"/>
                <a:gridCol w="3981565"/>
                <a:gridCol w="2551776"/>
                <a:gridCol w="2551776"/>
                <a:gridCol w="3087947"/>
              </a:tblGrid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Peringkat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Kategori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Kecepatan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Frekuensi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Jarak maks.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Biaya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25/40 Gbps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2000 MHz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 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Sangat tinggi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 Gbps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600 MHz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Tinggi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Cat6a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 Gbps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500 MHz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Menengah-tinggi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Gbps (10G ≤55 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250 MHz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Menengah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Cat5e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Gbps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MHz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 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Rendah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914400" y="8595360"/>
            <a:ext cx="16459200" cy="731520"/>
            <a:chOff x="0" y="0"/>
            <a:chExt cx="2194560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Peringkat berdasarkan kinerja teknis; Cat8 umumnya dipakai di data center, bukan jaringan kantor biasa.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2284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1645920"/>
            <a:chOff x="0" y="0"/>
            <a:chExt cx="219456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194560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Rekomendasi Pemilihan Kabel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1703" y="2181863"/>
            <a:ext cx="16484603" cy="1488443"/>
            <a:chOff x="0" y="0"/>
            <a:chExt cx="21979471" cy="19845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795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194560"/>
            <a:ext cx="182880" cy="1463040"/>
            <a:chOff x="0" y="0"/>
            <a:chExt cx="243840" cy="1950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54480" y="2194560"/>
            <a:ext cx="8046720" cy="1463040"/>
            <a:chOff x="0" y="0"/>
            <a:chExt cx="1072896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89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72896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Rumah / kantor kecil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92640" y="2194560"/>
            <a:ext cx="7498080" cy="1463040"/>
            <a:chOff x="0" y="0"/>
            <a:chExt cx="999744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99744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Cat5e atau Cat6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3919223"/>
            <a:ext cx="16484603" cy="1488443"/>
            <a:chOff x="0" y="0"/>
            <a:chExt cx="21979471" cy="19845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795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3931920"/>
            <a:ext cx="182880" cy="1463040"/>
            <a:chOff x="0" y="0"/>
            <a:chExt cx="243840" cy="1950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54480" y="3931920"/>
            <a:ext cx="8046720" cy="1463040"/>
            <a:chOff x="0" y="0"/>
            <a:chExt cx="1072896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89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072896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Kantor menengah &amp; sekolah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92640" y="3931920"/>
            <a:ext cx="7498080" cy="1463040"/>
            <a:chOff x="0" y="0"/>
            <a:chExt cx="9997440" cy="1950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97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999744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Cat6 (siap upgrade)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1703" y="5656583"/>
            <a:ext cx="16484603" cy="1488443"/>
            <a:chOff x="0" y="0"/>
            <a:chExt cx="21979471" cy="19845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795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F3F7FA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5669280"/>
            <a:ext cx="182880" cy="1463040"/>
            <a:chOff x="0" y="0"/>
            <a:chExt cx="243840" cy="1950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" y="5669280"/>
            <a:ext cx="8046720" cy="1463040"/>
            <a:chOff x="0" y="0"/>
            <a:chExt cx="1072896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289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072896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Backbone &amp; server room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92640" y="5669280"/>
            <a:ext cx="7498080" cy="1463040"/>
            <a:chOff x="0" y="0"/>
            <a:chExt cx="999744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997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999744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Cat6a atau serat optik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7393943"/>
            <a:ext cx="16484603" cy="1488443"/>
            <a:chOff x="0" y="0"/>
            <a:chExt cx="21979471" cy="19845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795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E6E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14400" y="7406640"/>
            <a:ext cx="182880" cy="1463040"/>
            <a:chOff x="0" y="0"/>
            <a:chExt cx="243840" cy="195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E9AA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54480" y="7406640"/>
            <a:ext cx="8046720" cy="1463040"/>
            <a:chOff x="0" y="0"/>
            <a:chExt cx="10728960" cy="1950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289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072896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22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center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92640" y="7406640"/>
            <a:ext cx="7498080" cy="1463040"/>
            <a:chOff x="0" y="0"/>
            <a:chExt cx="9997440" cy="1950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999744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Cat8 atau serat optik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1280160"/>
            <a:ext cx="16093440" cy="1463040"/>
            <a:chOff x="0" y="0"/>
            <a:chExt cx="2145792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457920" cy="2093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Kesimpulan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3023235"/>
            <a:ext cx="16093440" cy="55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Rancang jaringan dari kebutuhan nyata dan rencana pertumbuhan.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Patuhi batas 100 m, standar T568B, dan pemisahan dari kabel listrik.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Pilih kategori kabel yang seimbang antara kinerja dan biaya.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Uji dan beri label semua kabel agar mudah dirawat.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DAHXDSwkAdk</dc:identifier>
  <dcterms:modified xsi:type="dcterms:W3CDTF">2011-08-01T06:04:30Z</dcterms:modified>
  <cp:revision>1</cp:revision>
  <dc:title>Perancangan_Perangkingan_Kabel_LAN.pptx</dc:title>
</cp:coreProperties>
</file>